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Plus Jakarta Sans"/>
      <ns0:bold ns1:id="rIdFont20"/>
      <ns0:regular ns1:id="rIdFont21"/>
    </ns0:embeddedFont>
    <ns0:embeddedFont>
      <ns0:font typeface="Space Grotesk"/>
      <ns0:bold ns1:id="rIdFont2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57720555-d63d-4f43-af79-603d64ea4796.fntdata" /><ns0:Relationship Id="rIdFont21" Type="http://schemas.openxmlformats.org/officeDocument/2006/relationships/font" Target="fonts/8021f80a-72ca-4103-b1b7-13a7a41e6846.fntdata" /><ns0:Relationship Id="rIdFont22" Type="http://schemas.openxmlformats.org/officeDocument/2006/relationships/font" Target="fonts/5dc53a6f-b353-4443-a31f-8f16e30e6096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699545"/>
            <a:ext cx="190500" cy="190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475" y="4699545"/>
            <a:ext cx="190500" cy="190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1625" y="4699545"/>
            <a:ext cx="190500" cy="19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1953666"/>
            <a:ext cx="1143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4D399"/>
                </a:solidFill>
                <a:latin typeface="Space Grotesk"/>
              </a:rPr>
              <a:t>AGRITECH MACHINE LEARNING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306091"/>
            <a:ext cx="9701212" cy="118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57"/>
              </a:lnSpc>
            </a:pPr>
            <a:r>
              <a:rPr b="1" sz="4050" i="0" u="none">
                <a:solidFill>
                  <a:srgbClr val="FFFFFF"/>
                </a:solidFill>
                <a:latin typeface="Space Grotesk"/>
              </a:rPr>
              <a:t>Ethiopian Crop Yield &amp; Revenue Predictor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679477"/>
            <a:ext cx="752475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A7F3D0"/>
                </a:solidFill>
                <a:latin typeface="Plus Jakarta Sans"/>
              </a:rPr>
              <a:t>Data-driven harvest forecasting and farmgate monetization for smallholder farmers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4685258"/>
            <a:ext cx="151209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0FDF4"/>
                </a:solidFill>
                <a:latin typeface="Plus Jakarta Sans"/>
              </a:rPr>
              <a:t>5 Staple Crops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62275" y="4685258"/>
            <a:ext cx="25479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0FDF4"/>
                </a:solidFill>
                <a:latin typeface="Plus Jakarta Sans"/>
              </a:rPr>
              <a:t>5 Agro-Ecological Zones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86425" y="4685258"/>
            <a:ext cx="177403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0FDF4"/>
                </a:solidFill>
                <a:latin typeface="Plus Jakarta Sans"/>
              </a:rPr>
              <a:t>0.89 R² Accuracy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1947862"/>
            <a:ext cx="5257800" cy="4000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947862"/>
            <a:ext cx="5257800" cy="4000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976562"/>
            <a:ext cx="419100" cy="419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700462"/>
            <a:ext cx="41910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424362"/>
            <a:ext cx="4191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3090862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3814762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087" y="4538662"/>
            <a:ext cx="238125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953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47857"/>
                </a:solidFill>
                <a:latin typeface="Space Grotesk"/>
              </a:rPr>
              <a:t>CONTEXT &amp;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52475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Smallholder Vulnerabilities in Ethiopia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1100" y="2976562"/>
            <a:ext cx="503812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Microclimate Rain Variance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1100" y="3252787"/>
            <a:ext cx="479821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High divergence from regional weather stations.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1100" y="3700462"/>
            <a:ext cx="410051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Suboptimal Input Combinations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1100" y="3976687"/>
            <a:ext cx="3905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Untapped fertilizer and seed synergies.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1100" y="4424362"/>
            <a:ext cx="447555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Revenue Projection Gaps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1100" y="4700587"/>
            <a:ext cx="42624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No conversion from yield to local currency.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95425"/>
            <a:ext cx="2543175" cy="1076325"/>
          </a:xfrm>
          <a:prstGeom prst="roundRect">
            <a:avLst>
              <a:gd name="adj" fmla="val 1061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19475" y="1495425"/>
            <a:ext cx="2543175" cy="1076325"/>
          </a:xfrm>
          <a:prstGeom prst="roundRect">
            <a:avLst>
              <a:gd name="adj" fmla="val 1061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29350" y="1495425"/>
            <a:ext cx="2543175" cy="1076325"/>
          </a:xfrm>
          <a:prstGeom prst="roundRect">
            <a:avLst>
              <a:gd name="adj" fmla="val 1061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39225" y="1495425"/>
            <a:ext cx="2543175" cy="1076325"/>
          </a:xfrm>
          <a:prstGeom prst="roundRect">
            <a:avLst>
              <a:gd name="adj" fmla="val 1061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3819525"/>
            <a:ext cx="5353050" cy="1638300"/>
          </a:xfrm>
          <a:prstGeom prst="roundRect">
            <a:avLst>
              <a:gd name="adj" fmla="val 813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29350" y="3819525"/>
            <a:ext cx="5353050" cy="1638300"/>
          </a:xfrm>
          <a:prstGeom prst="roundRect">
            <a:avLst>
              <a:gd name="adj" fmla="val 813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953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47857"/>
                </a:solidFill>
                <a:latin typeface="Space Grotesk"/>
              </a:rPr>
              <a:t>EMPIRICAL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52475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Regional &amp; Agronomic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359" y="1695450"/>
            <a:ext cx="2583656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047857"/>
                </a:solidFill>
                <a:latin typeface="Space Grotesk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359" y="2171700"/>
            <a:ext cx="25836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Plus Jakarta Sans"/>
              </a:rPr>
              <a:t>Priority Regions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9234" y="1695450"/>
            <a:ext cx="2583656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047857"/>
                </a:solidFill>
                <a:latin typeface="Space Grotesk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9234" y="2171700"/>
            <a:ext cx="25836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Plus Jakarta Sans"/>
              </a:rPr>
              <a:t>Staple Food Crops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9109" y="1695450"/>
            <a:ext cx="2583656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047857"/>
                </a:solidFill>
                <a:latin typeface="Space Grotesk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9109" y="2171700"/>
            <a:ext cx="25836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Plus Jakarta Sans"/>
              </a:rPr>
              <a:t>Survey Cohorts (2021–24)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18984" y="1695450"/>
            <a:ext cx="2583656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047857"/>
                </a:solidFill>
                <a:latin typeface="Space Grotesk"/>
              </a:rPr>
              <a:t>3,500m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18984" y="2171700"/>
            <a:ext cx="25836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Plus Jakarta Sans"/>
              </a:rPr>
              <a:t>Altitude Gradient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4095750"/>
            <a:ext cx="630078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47857"/>
                </a:solidFill>
                <a:latin typeface="Plus Jakarta Sans"/>
              </a:rPr>
              <a:t>Regional Zones Covered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4448175"/>
            <a:ext cx="48958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Highlands &amp; Lowlands: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Amhara, Oromia, SNNPR, Somali, Tigray.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4962525"/>
            <a:ext cx="6000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Planting Calendar: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Primary Meher and Belg planting cycles.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5575" y="4095750"/>
            <a:ext cx="568642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47857"/>
                </a:solidFill>
                <a:latin typeface="Plus Jakarta Sans"/>
              </a:rPr>
              <a:t>Target Crop Portfolios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5575" y="4448175"/>
            <a:ext cx="56864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National Staples: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Teff, Wheat, Barley, Sorghum, Maize.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5575" y="4743450"/>
            <a:ext cx="48958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Farming Scale: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Smallholders cultivating 0.1 to 15.0 hectares.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38487"/>
            <a:ext cx="2600325" cy="1657350"/>
          </a:xfrm>
          <a:prstGeom prst="roundRect">
            <a:avLst>
              <a:gd name="adj" fmla="val 80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3028950"/>
            <a:ext cx="2600325" cy="1876425"/>
          </a:xfrm>
          <a:prstGeom prst="roundRect">
            <a:avLst>
              <a:gd name="adj" fmla="val 710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028950"/>
            <a:ext cx="2600325" cy="1876425"/>
          </a:xfrm>
          <a:prstGeom prst="roundRect">
            <a:avLst>
              <a:gd name="adj" fmla="val 710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3138487"/>
            <a:ext cx="2600325" cy="1657350"/>
          </a:xfrm>
          <a:prstGeom prst="roundRect">
            <a:avLst>
              <a:gd name="adj" fmla="val 80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9625" y="3414712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0450" y="3305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91275" y="3305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82100" y="3414712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953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47857"/>
                </a:solidFill>
                <a:latin typeface="Space Grotesk"/>
              </a:rPr>
              <a:t>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52475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End-to-End ML Pipeline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50" y="3414712"/>
            <a:ext cx="7048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Plus Jakarta San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3986212"/>
            <a:ext cx="288786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Raw Ingestion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4300537"/>
            <a:ext cx="2750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Multi-year farmer surveys.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7575" y="3305175"/>
            <a:ext cx="7048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Plus Jakarta San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450" y="3876675"/>
            <a:ext cx="288786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Feature Synthesis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450" y="4191000"/>
            <a:ext cx="22955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Microclimate interaction signals.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305175"/>
            <a:ext cx="7048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Plus Jakarta San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275" y="3876675"/>
            <a:ext cx="288786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Scikit-Learn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275" y="4191000"/>
            <a:ext cx="22955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Ensemble regression inference.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9225" y="3414712"/>
            <a:ext cx="7048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Plus Jakarta San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2100" y="3986212"/>
            <a:ext cx="288786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Streamlit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2100" y="4300537"/>
            <a:ext cx="2750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Real-time farmgate pricing.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47962"/>
            <a:ext cx="5372100" cy="1085850"/>
          </a:xfrm>
          <a:prstGeom prst="roundRect">
            <a:avLst>
              <a:gd name="adj" fmla="val 1228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747962"/>
            <a:ext cx="5372100" cy="1085850"/>
          </a:xfrm>
          <a:prstGeom prst="roundRect">
            <a:avLst>
              <a:gd name="adj" fmla="val 1228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062412"/>
            <a:ext cx="5372100" cy="1085850"/>
          </a:xfrm>
          <a:prstGeom prst="roundRect">
            <a:avLst>
              <a:gd name="adj" fmla="val 1228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4062412"/>
            <a:ext cx="5372100" cy="1085850"/>
          </a:xfrm>
          <a:prstGeom prst="roundRect">
            <a:avLst>
              <a:gd name="adj" fmla="val 1228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953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47857"/>
                </a:solidFill>
                <a:latin typeface="Space Grotesk"/>
              </a:rPr>
              <a:t>FEATURE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52475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Domain Agronomic Indicators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024187"/>
            <a:ext cx="632579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47857"/>
                </a:solidFill>
                <a:latin typeface="Plus Jakarta Sans"/>
              </a:rPr>
              <a:t>Fertilizer × Seed Synergy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338512"/>
            <a:ext cx="60245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Multiplies chemical inputs by variety quality.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6525" y="3024187"/>
            <a:ext cx="5705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47857"/>
                </a:solidFill>
                <a:latin typeface="Plus Jakarta Sans"/>
              </a:rPr>
              <a:t>Rainfall vs Station Diff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6525" y="3338512"/>
            <a:ext cx="57054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Calculates local precipitation deviations.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4338637"/>
            <a:ext cx="632579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47857"/>
                </a:solidFill>
                <a:latin typeface="Plus Jakarta Sans"/>
              </a:rPr>
              <a:t>Labor per Farm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4652962"/>
            <a:ext cx="60245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Normalizes farm labor per hectare.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6525" y="4338637"/>
            <a:ext cx="5705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47857"/>
                </a:solidFill>
                <a:latin typeface="Plus Jakarta Sans"/>
              </a:rPr>
              <a:t>Rain-to-Altitude Ratio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525" y="4652962"/>
            <a:ext cx="57054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Measures elevation-driven water runoff.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00312"/>
            <a:ext cx="10972800" cy="28575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2500312"/>
          <a:ext cx="10972798" cy="28575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4369891"/>
                <a:gridCol w="2383482"/>
                <a:gridCol w="2534245"/>
                <a:gridCol w="168518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Model Candidate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MAE (tons/ha)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RMSE (tons/ha)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R² Score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Linear Regression Baseline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0.62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0.81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0.64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Random Forest Regressor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0.38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0.52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0.81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Gradient Boosting Regressor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0.34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0.46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0.85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65F46"/>
                          </a:solidFill>
                          <a:latin typeface="Plus Jakarta Sans"/>
                        </a:rPr>
                        <a:t>Final Tuned Pipeline (Selected)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65F46"/>
                          </a:solidFill>
                          <a:latin typeface="Plus Jakarta Sans"/>
                        </a:rPr>
                        <a:t>0.29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65F46"/>
                          </a:solidFill>
                          <a:latin typeface="Plus Jakarta Sans"/>
                        </a:rPr>
                        <a:t>0.40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65F46"/>
                          </a:solidFill>
                          <a:latin typeface="Plus Jakarta Sans"/>
                        </a:rPr>
                        <a:t>0.89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4953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47857"/>
                </a:solidFill>
                <a:latin typeface="Space Grotesk"/>
              </a:rPr>
              <a:t>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52475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Model Evaluation &amp; Comparison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953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47857"/>
                </a:solidFill>
                <a:latin typeface="Space Grotesk"/>
              </a:rPr>
              <a:t>VALIDATION METRIC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52475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Top Pipeline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48237" y="2557462"/>
            <a:ext cx="2869406" cy="106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b="1" sz="8400" i="0" u="none">
                <a:solidFill>
                  <a:srgbClr val="047857"/>
                </a:solidFill>
                <a:latin typeface="Space Grotesk"/>
              </a:rPr>
              <a:t>0.89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7050" y="3776662"/>
            <a:ext cx="75723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475569"/>
                </a:solidFill>
                <a:latin typeface="Plus Jakarta Sans"/>
              </a:rPr>
              <a:t>Coefficient of Determination (R²) Across Held-Out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0462" y="4462462"/>
            <a:ext cx="127635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1E293B"/>
                </a:solidFill>
                <a:latin typeface="Space Grotesk"/>
              </a:rPr>
              <a:t>0.29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0462" y="4986337"/>
            <a:ext cx="12763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Plus Jakarta Sans"/>
              </a:rPr>
              <a:t>MAE (tons/ha)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76862" y="4462462"/>
            <a:ext cx="13716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1E293B"/>
                </a:solidFill>
                <a:latin typeface="Space Grotesk"/>
              </a:rPr>
              <a:t>0.40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76862" y="4986337"/>
            <a:ext cx="13716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Plus Jakarta Sans"/>
              </a:rPr>
              <a:t>RMSE (tons/ha)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48512" y="4462462"/>
            <a:ext cx="1343025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1E293B"/>
                </a:solidFill>
                <a:latin typeface="Space Grotesk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8512" y="4986337"/>
            <a:ext cx="13430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Plus Jakarta Sans"/>
              </a:rPr>
              <a:t>Joblib Pipeline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90825"/>
            <a:ext cx="10972800" cy="152400"/>
          </a:xfrm>
          <a:prstGeom prst="roundRect">
            <a:avLst>
              <a:gd name="adj" fmla="val 375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390900"/>
            <a:ext cx="10972800" cy="152400"/>
          </a:xfrm>
          <a:prstGeom prst="roundRect">
            <a:avLst>
              <a:gd name="adj" fmla="val 375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90975"/>
            <a:ext cx="10972800" cy="152400"/>
          </a:xfrm>
          <a:prstGeom prst="roundRect">
            <a:avLst>
              <a:gd name="adj" fmla="val 375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591050"/>
            <a:ext cx="10972800" cy="152400"/>
          </a:xfrm>
          <a:prstGeom prst="roundRect">
            <a:avLst>
              <a:gd name="adj" fmla="val 375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5191125"/>
            <a:ext cx="10972800" cy="152400"/>
          </a:xfrm>
          <a:prstGeom prst="roundRect">
            <a:avLst>
              <a:gd name="adj" fmla="val 375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2790825"/>
            <a:ext cx="10972800" cy="152400"/>
          </a:xfrm>
          <a:prstGeom prst="roundRect">
            <a:avLst>
              <a:gd name="adj" fmla="val 37500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" y="3390900"/>
            <a:ext cx="8229600" cy="152400"/>
          </a:xfrm>
          <a:prstGeom prst="roundRect">
            <a:avLst>
              <a:gd name="adj" fmla="val 375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9600" y="3990975"/>
            <a:ext cx="6144666" cy="152400"/>
          </a:xfrm>
          <a:prstGeom prst="roundRect">
            <a:avLst>
              <a:gd name="adj" fmla="val 375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9600" y="4591050"/>
            <a:ext cx="4827984" cy="152400"/>
          </a:xfrm>
          <a:prstGeom prst="roundRect">
            <a:avLst>
              <a:gd name="adj" fmla="val 375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9600" y="5191125"/>
            <a:ext cx="4169568" cy="152400"/>
          </a:xfrm>
          <a:prstGeom prst="roundRect">
            <a:avLst>
              <a:gd name="adj" fmla="val 37500"/>
            </a:avLst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4953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47857"/>
                </a:solidFill>
                <a:latin typeface="Space Grotesk"/>
              </a:rPr>
              <a:t>INTERPRETABILITY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52475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Key Yield Feature Drivers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2514600"/>
            <a:ext cx="367903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Fertilizer × Improved Seed Synergy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91700" y="2514600"/>
            <a:ext cx="2238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47857"/>
                </a:solidFill>
                <a:latin typeface="Plus Jakarta Sans"/>
              </a:rPr>
              <a:t>Relative Weight: 0.32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3114675"/>
            <a:ext cx="241696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Soil Quality Index (0–1)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2175" y="3114675"/>
            <a:ext cx="225028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47857"/>
                </a:solidFill>
                <a:latin typeface="Plus Jakarta Sans"/>
              </a:rPr>
              <a:t>Relative Weight: 0.24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3714750"/>
            <a:ext cx="28336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Plot Seasonal Rainfall (mm)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39325" y="3714750"/>
            <a:ext cx="21788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47857"/>
                </a:solidFill>
                <a:latin typeface="Plus Jakarta Sans"/>
              </a:rPr>
              <a:t>Relative Weight: 0.18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4314825"/>
            <a:ext cx="298846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Extreme Heat Days In Season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4314825"/>
            <a:ext cx="2190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47857"/>
                </a:solidFill>
                <a:latin typeface="Plus Jakarta Sans"/>
              </a:rPr>
              <a:t>Relative Weight: 0.14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4914900"/>
            <a:ext cx="3131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Plot vs Station Rain Difference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39325" y="4914900"/>
            <a:ext cx="21788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47857"/>
                </a:solidFill>
                <a:latin typeface="Plus Jakarta Sans"/>
              </a:rPr>
              <a:t>Relative Weight: 0.12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57325"/>
            <a:ext cx="10972800" cy="542925"/>
          </a:xfrm>
          <a:prstGeom prst="roundRect">
            <a:avLst>
              <a:gd name="adj" fmla="val 21052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281362"/>
            <a:ext cx="10972800" cy="152400"/>
          </a:xfrm>
          <a:prstGeom prst="roundRect">
            <a:avLst>
              <a:gd name="adj" fmla="val 375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824287"/>
            <a:ext cx="10972800" cy="152400"/>
          </a:xfrm>
          <a:prstGeom prst="roundRect">
            <a:avLst>
              <a:gd name="adj" fmla="val 375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367212"/>
            <a:ext cx="10972800" cy="152400"/>
          </a:xfrm>
          <a:prstGeom prst="roundRect">
            <a:avLst>
              <a:gd name="adj" fmla="val 375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4910137"/>
            <a:ext cx="10972800" cy="152400"/>
          </a:xfrm>
          <a:prstGeom prst="roundRect">
            <a:avLst>
              <a:gd name="adj" fmla="val 375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5453062"/>
            <a:ext cx="10972800" cy="152400"/>
          </a:xfrm>
          <a:prstGeom prst="roundRect">
            <a:avLst>
              <a:gd name="adj" fmla="val 375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" y="3281362"/>
            <a:ext cx="10972800" cy="152400"/>
          </a:xfrm>
          <a:prstGeom prst="roundRect">
            <a:avLst>
              <a:gd name="adj" fmla="val 37500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9600" y="3824287"/>
            <a:ext cx="7461498" cy="152400"/>
          </a:xfrm>
          <a:prstGeom prst="roundRect">
            <a:avLst>
              <a:gd name="adj" fmla="val 375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9600" y="4367212"/>
            <a:ext cx="6254353" cy="152400"/>
          </a:xfrm>
          <a:prstGeom prst="roundRect">
            <a:avLst>
              <a:gd name="adj" fmla="val 375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9600" y="4910137"/>
            <a:ext cx="5486400" cy="152400"/>
          </a:xfrm>
          <a:prstGeom prst="roundRect">
            <a:avLst>
              <a:gd name="adj" fmla="val 375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9600" y="5453062"/>
            <a:ext cx="5157192" cy="152400"/>
          </a:xfrm>
          <a:prstGeom prst="roundRect">
            <a:avLst>
              <a:gd name="adj" fmla="val 375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4953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47857"/>
                </a:solidFill>
                <a:latin typeface="Space Grotesk"/>
              </a:rPr>
              <a:t>MONETIZATION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52475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Farmgate Rates (ETB / Quintal)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1619250"/>
            <a:ext cx="113442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65F46"/>
                </a:solidFill>
                <a:latin typeface="Plus Jakarta Sans"/>
              </a:rPr>
              <a:t>Revenue Formula: Total Revenue (ETB) = Yield (tons/ha) × Farm Size (ha) × 10 × Unit Price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3024187"/>
            <a:ext cx="2286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Teff (Premium Cereal)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44200" y="3024187"/>
            <a:ext cx="11239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47857"/>
                </a:solidFill>
                <a:latin typeface="Plus Jakarta Sans"/>
              </a:rPr>
              <a:t>7,200 ETB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3567112"/>
            <a:ext cx="8286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Wheat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15625" y="3567112"/>
            <a:ext cx="11525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47857"/>
                </a:solidFill>
                <a:latin typeface="Plus Jakarta Sans"/>
              </a:rPr>
              <a:t>4,900 ETB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4110037"/>
            <a:ext cx="8191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Barley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63250" y="4110037"/>
            <a:ext cx="11049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47857"/>
                </a:solidFill>
                <a:latin typeface="Plus Jakarta Sans"/>
              </a:rPr>
              <a:t>4,100 ETB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4652962"/>
            <a:ext cx="10668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Sorghum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5150" y="4652962"/>
            <a:ext cx="1143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47857"/>
                </a:solidFill>
                <a:latin typeface="Plus Jakarta Sans"/>
              </a:rPr>
              <a:t>3,600 ETB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5195887"/>
            <a:ext cx="7715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Maize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15625" y="5195887"/>
            <a:ext cx="11525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47857"/>
                </a:solidFill>
                <a:latin typeface="Plus Jakarta Sans"/>
              </a:rPr>
              <a:t>3,400 ETB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28812"/>
            <a:ext cx="5257800" cy="4000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928812"/>
            <a:ext cx="5257800" cy="4000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2995612"/>
            <a:ext cx="228600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600" y="3700462"/>
            <a:ext cx="200025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600" y="4405312"/>
            <a:ext cx="285750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953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47857"/>
                </a:solidFill>
                <a:latin typeface="Space Grotesk"/>
              </a:rPr>
              <a:t>INTERACTIVE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52475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Streamlit Decision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600" y="2976562"/>
            <a:ext cx="471308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Multi-Parameter 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600" y="3252787"/>
            <a:ext cx="448865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Dynamic altitude, rainfall, and fertilizer sliders.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3681412"/>
            <a:ext cx="495061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Real-Time Pipeline Scoring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7025" y="3957637"/>
            <a:ext cx="47148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Sub-second execution via Joblib model loader.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2750" y="4386262"/>
            <a:ext cx="536317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Bilingual Unit Translation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2750" y="4662487"/>
            <a:ext cx="510778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Instant conversion to metric tons and Ethiopian Birr.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71787"/>
            <a:ext cx="2600325" cy="2190750"/>
          </a:xfrm>
          <a:prstGeom prst="roundRect">
            <a:avLst>
              <a:gd name="adj" fmla="val 608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2871787"/>
            <a:ext cx="2600325" cy="2190750"/>
          </a:xfrm>
          <a:prstGeom prst="roundRect">
            <a:avLst>
              <a:gd name="adj" fmla="val 608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2871787"/>
            <a:ext cx="2600325" cy="2190750"/>
          </a:xfrm>
          <a:prstGeom prst="roundRect">
            <a:avLst>
              <a:gd name="adj" fmla="val 608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2871787"/>
            <a:ext cx="2600325" cy="2190750"/>
          </a:xfrm>
          <a:prstGeom prst="roundRect">
            <a:avLst>
              <a:gd name="adj" fmla="val 608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112" y="3148012"/>
            <a:ext cx="495300" cy="495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2937" y="3148012"/>
            <a:ext cx="495300" cy="495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3762" y="3148012"/>
            <a:ext cx="495300" cy="4953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4587" y="3148012"/>
            <a:ext cx="495300" cy="4953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6412" y="3290887"/>
            <a:ext cx="26670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5812" y="3290887"/>
            <a:ext cx="20955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6637" y="3290887"/>
            <a:ext cx="209550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77462" y="3290887"/>
            <a:ext cx="209550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953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47857"/>
                </a:solidFill>
                <a:latin typeface="Space Grotesk"/>
              </a:rPr>
              <a:t>ENGINEERING 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52475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Project Contributors &amp; Roles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832" y="3795712"/>
            <a:ext cx="288786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1E293B"/>
                </a:solidFill>
                <a:latin typeface="Plus Jakarta Sans"/>
              </a:rPr>
              <a:t>Webalem Ayele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590" y="4071937"/>
            <a:ext cx="27503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47857"/>
                </a:solidFill>
                <a:latin typeface="Plus Jakarta Sans"/>
              </a:rPr>
              <a:t>Web App Development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590" y="4386262"/>
            <a:ext cx="2750343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Plus Jakarta Sans"/>
              </a:rPr>
              <a:t>Streamlit architecture and state management.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56657" y="3795712"/>
            <a:ext cx="288786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1E293B"/>
                </a:solidFill>
                <a:latin typeface="Plus Jakarta Sans"/>
              </a:rPr>
              <a:t>Yosef Mekonen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25415" y="4071937"/>
            <a:ext cx="27503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47857"/>
                </a:solidFill>
                <a:latin typeface="Plus Jakarta Sans"/>
              </a:rPr>
              <a:t>Deployment &amp; Docs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25415" y="4386262"/>
            <a:ext cx="2750343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Plus Jakarta Sans"/>
              </a:rPr>
              <a:t>Build requirements and repository control.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47482" y="3795712"/>
            <a:ext cx="288786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1E293B"/>
                </a:solidFill>
                <a:latin typeface="Plus Jakarta Sans"/>
              </a:rPr>
              <a:t>Abebu Bashaw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16240" y="4071937"/>
            <a:ext cx="27503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47857"/>
                </a:solidFill>
                <a:latin typeface="Plus Jakarta Sans"/>
              </a:rPr>
              <a:t>ML Engineering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16240" y="4386262"/>
            <a:ext cx="2750343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Plus Jakarta Sans"/>
              </a:rPr>
              <a:t>Model pipeline design and feature engineering.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38307" y="3795712"/>
            <a:ext cx="288786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1E293B"/>
                </a:solidFill>
                <a:latin typeface="Plus Jakarta Sans"/>
              </a:rPr>
              <a:t>Eyasu Jida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07065" y="4071937"/>
            <a:ext cx="27503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47857"/>
                </a:solidFill>
                <a:latin typeface="Plus Jakarta Sans"/>
              </a:rPr>
              <a:t>Data Analysis &amp; QA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07065" y="4386262"/>
            <a:ext cx="2750343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Plus Jakarta Sans"/>
              </a:rPr>
              <a:t>Exploratory analysis and metric validation.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91000" y="4179540"/>
            <a:ext cx="3810000" cy="619125"/>
          </a:xfrm>
          <a:prstGeom prst="roundRect">
            <a:avLst>
              <a:gd name="adj" fmla="val 18461"/>
            </a:avLst>
          </a:prstGeom>
          <a:solidFill>
            <a:srgbClr val="04392B"/>
          </a:solidFill>
          <a:ln w="9525">
            <a:solidFill>
              <a:srgbClr val="056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2296" y="2059334"/>
            <a:ext cx="21074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4D399"/>
                </a:solidFill>
                <a:latin typeface="Space Grotesk"/>
              </a:rPr>
              <a:t>IMPACT &amp;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0334" y="2411759"/>
            <a:ext cx="10651331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b="1" sz="3750" i="0" u="none">
                <a:solidFill>
                  <a:srgbClr val="FFFFFF"/>
                </a:solidFill>
                <a:latin typeface="Space Grotesk"/>
              </a:rPr>
              <a:t>Empowering Smallholder Resilience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3211859"/>
            <a:ext cx="857250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b="0" sz="1650" i="0" u="none">
                <a:solidFill>
                  <a:srgbClr val="A7F3D0"/>
                </a:solidFill>
                <a:latin typeface="Plus Jakarta Sans"/>
              </a:rPr>
              <a:t>Bridging predictive data science with practical agricultural economics across Ethiopia.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55281" y="4379565"/>
            <a:ext cx="38814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Plus Jakarta Sans"/>
              </a:rPr>
              <a:t>Open for Discussion &amp; Demonstration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0975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38225"/>
            <a:ext cx="698896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https://theafricandreams.com/wp-content/uploads/2025/09/Teff-farming-in-Ethiopia.webp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238250"/>
            <a:ext cx="28217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theafricandreams.com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771650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https://static.wixstatic.com/media/2e83dc_246354281c0641c4801514e34f86f970~mv2.jpeg/v1/fill/w_752,h_420,al_c,q_80,usm_0.66_1.00_0.01,enc_avif,quality_auto/2e83dc_246354281c0641c4801514e34f86f970~mv2.jpeg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124075"/>
            <a:ext cx="27503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www.invadeagro.com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